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14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96167"/>
                </a:solidFill>
                <a:latin typeface="Pretendard"/>
              </a:rPr>
              <a:t>DAY 1 /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retendard"/>
              </a:rPr>
              <a:t>비개발자를 위한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Pretendard"/>
              </a:rPr>
              <a:t>웹+AI 코딩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Pretendard"/>
              </a:rPr>
              <a:t>AI 협업으로 첫 웹 애플리케이션 만들기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F96167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Pretendard"/>
              </a:rPr>
              <a:t>왜 이 스택인가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Pretendard"/>
              </a:rPr>
              <a:t>AI 코딩 어시스턴트와 가장 잘 맞는 기술 선택의 근거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Pretendard"/>
              </a:rPr>
              <a:t>오늘 배우는 핵심 스킬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도구 사용법이 아닌, AI와 협업하는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비개발자 웹+AI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Pretendard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115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F96167"/>
                </a:solidFill>
                <a:latin typeface="Pretendard"/>
              </a:rPr>
              <a:t>● </a:t>
            </a:r>
            <a:r>
              <a:rPr sz="2000">
                <a:solidFill>
                  <a:srgbClr val="1A1A1A"/>
                </a:solidFill>
                <a:latin typeface="Pretendard"/>
              </a:rPr>
              <a:t>AI에게 정확한 용어로 지시하기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96167"/>
                </a:solidFill>
                <a:latin typeface="Pretendard"/>
              </a:rPr>
              <a:t>● </a:t>
            </a:r>
            <a:r>
              <a:rPr sz="2000">
                <a:solidFill>
                  <a:srgbClr val="1A1A1A"/>
                </a:solidFill>
                <a:latin typeface="Pretendard"/>
              </a:rPr>
              <a:t>생성된 코드를 검토하고 의도 확인하기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96167"/>
                </a:solidFill>
                <a:latin typeface="Pretendard"/>
              </a:rPr>
              <a:t>● </a:t>
            </a:r>
            <a:r>
              <a:rPr sz="2000">
                <a:solidFill>
                  <a:srgbClr val="1A1A1A"/>
                </a:solidFill>
                <a:latin typeface="Pretendard"/>
              </a:rPr>
              <a:t>오류 메시지를 AI와 함께 해석하기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96167"/>
                </a:solidFill>
                <a:latin typeface="Pretendard"/>
              </a:rPr>
              <a:t>● </a:t>
            </a:r>
            <a:r>
              <a:rPr sz="2000">
                <a:solidFill>
                  <a:srgbClr val="1A1A1A"/>
                </a:solidFill>
                <a:latin typeface="Pretendard"/>
              </a:rPr>
              <a:t>반복 루프를 빠르게 돌리기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96167"/>
                </a:solidFill>
                <a:latin typeface="Pretendard"/>
              </a:rPr>
              <a:t>● </a:t>
            </a:r>
            <a:r>
              <a:rPr sz="2000">
                <a:solidFill>
                  <a:srgbClr val="1A1A1A"/>
                </a:solidFill>
                <a:latin typeface="Pretendard"/>
              </a:rPr>
              <a:t>내 업무 맥락으로 결과물 전환하기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59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Pretendard"/>
              </a:rPr>
              <a:t>오늘 끝나면 게시판 CRUD를 직접 만들어 보게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Pretendard"/>
              </a:rPr>
              <a:t>기존 학습 vs AI 협업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비개발자 웹+AI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Pretendard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72887" cy="457200"/>
          </a:xfrm>
          <a:prstGeom prst="rect">
            <a:avLst/>
          </a:prstGeom>
          <a:solidFill>
            <a:srgbClr val="DD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400" b="1">
                <a:solidFill>
                  <a:srgbClr val="1E2761"/>
                </a:solidFill>
                <a:latin typeface="Pretendard"/>
              </a:rPr>
              <a:t>기존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5181447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96167"/>
                </a:solidFill>
                <a:latin typeface="Pretendard"/>
              </a:rPr>
              <a:t>● </a:t>
            </a:r>
            <a:r>
              <a:rPr sz="1600">
                <a:solidFill>
                  <a:srgbClr val="1A1A1A"/>
                </a:solidFill>
                <a:latin typeface="Pretendard"/>
              </a:rPr>
              <a:t>문법부터 외운다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96167"/>
                </a:solidFill>
                <a:latin typeface="Pretendard"/>
              </a:rPr>
              <a:t>● </a:t>
            </a:r>
            <a:r>
              <a:rPr sz="1600">
                <a:solidFill>
                  <a:srgbClr val="1A1A1A"/>
                </a:solidFill>
                <a:latin typeface="Pretendard"/>
              </a:rPr>
              <a:t>에러 메시지에서 막힌다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96167"/>
                </a:solidFill>
                <a:latin typeface="Pretendard"/>
              </a:rPr>
              <a:t>● </a:t>
            </a:r>
            <a:r>
              <a:rPr sz="1600">
                <a:solidFill>
                  <a:srgbClr val="1A1A1A"/>
                </a:solidFill>
                <a:latin typeface="Pretendard"/>
              </a:rPr>
              <a:t>혼자 해결할 때까지 기다린다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96167"/>
                </a:solidFill>
                <a:latin typeface="Pretendard"/>
              </a:rPr>
              <a:t>● </a:t>
            </a:r>
            <a:r>
              <a:rPr sz="1600">
                <a:solidFill>
                  <a:srgbClr val="1A1A1A"/>
                </a:solidFill>
                <a:latin typeface="Pretendard"/>
              </a:rPr>
              <a:t>공부량 = 진도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783080"/>
            <a:ext cx="5272887" cy="457200"/>
          </a:xfrm>
          <a:prstGeom prst="rect">
            <a:avLst/>
          </a:prstGeom>
          <a:solidFill>
            <a:srgbClr val="DD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400" b="1">
                <a:solidFill>
                  <a:srgbClr val="1E2761"/>
                </a:solidFill>
                <a:latin typeface="Pretendard"/>
              </a:rPr>
              <a:t>AI 협업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423160"/>
            <a:ext cx="5181447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96167"/>
                </a:solidFill>
                <a:latin typeface="Pretendard"/>
              </a:rPr>
              <a:t>● </a:t>
            </a:r>
            <a:r>
              <a:rPr sz="1600">
                <a:solidFill>
                  <a:srgbClr val="1A1A1A"/>
                </a:solidFill>
                <a:latin typeface="Pretendard"/>
              </a:rPr>
              <a:t>의도부터 구체화한다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96167"/>
                </a:solidFill>
                <a:latin typeface="Pretendard"/>
              </a:rPr>
              <a:t>● </a:t>
            </a:r>
            <a:r>
              <a:rPr sz="1600">
                <a:solidFill>
                  <a:srgbClr val="1A1A1A"/>
                </a:solidFill>
                <a:latin typeface="Pretendard"/>
              </a:rPr>
              <a:t>에러 메시지를 함께 해석한다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96167"/>
                </a:solidFill>
                <a:latin typeface="Pretendard"/>
              </a:rPr>
              <a:t>● </a:t>
            </a:r>
            <a:r>
              <a:rPr sz="1600">
                <a:solidFill>
                  <a:srgbClr val="1A1A1A"/>
                </a:solidFill>
                <a:latin typeface="Pretendard"/>
              </a:rPr>
              <a:t>AI에게 다른 접근을 요청한다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96167"/>
                </a:solidFill>
                <a:latin typeface="Pretendard"/>
              </a:rPr>
              <a:t>● </a:t>
            </a:r>
            <a:r>
              <a:rPr sz="1600">
                <a:solidFill>
                  <a:srgbClr val="1A1A1A"/>
                </a:solidFill>
                <a:latin typeface="Pretendard"/>
              </a:rPr>
              <a:t>검토량 = 진도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Pretendard"/>
              </a:rPr>
              <a:t>기술 스택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AI 코드 생성 품질을 좌우하는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비개발자 웹+AI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Pretendard"/>
              </a:rPr>
              <a:t>5</a:t>
            </a:r>
          </a:p>
        </p:txBody>
      </p:sp>
      <p:pic>
        <p:nvPicPr>
          <p:cNvPr id="7" name="Picture 6" descr="table_f6a7c5024c4a39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3460"/>
            <a:ext cx="10911535" cy="23225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59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Pretendard"/>
              </a:rPr>
              <a:t>스택 선택은 AI 협업 효율성을 기준으로 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Pretendard"/>
              </a:rPr>
              <a:t>AI 협업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교육 전반의 핵심 반복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비개발자 웹+AI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Pretendard"/>
              </a:rPr>
              <a:t>6</a:t>
            </a:r>
          </a:p>
        </p:txBody>
      </p:sp>
      <p:pic>
        <p:nvPicPr>
          <p:cNvPr id="7" name="Picture 6" descr="mermaid_aecaef627790fb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25178"/>
            <a:ext cx="10911535" cy="25391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59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Pretendard"/>
              </a:rPr>
              <a:t>이 루프를 빠르게 돌리는 것이 핵심 역량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Pretendard"/>
              </a:rPr>
              <a:t>FastAPI 게시글 조회 엔드포인트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비개발자 웹+AI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Pretendard"/>
              </a:rPr>
              <a:t>7</a:t>
            </a:r>
          </a:p>
        </p:txBody>
      </p:sp>
      <p:pic>
        <p:nvPicPr>
          <p:cNvPr id="6" name="Picture 5" descr="code_cac1944bb9b88f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60739"/>
            <a:ext cx="10911535" cy="2268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80759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Pretendard"/>
              </a:rPr>
              <a:t>AI에게 '게시글 단건 조회 엔드포인트 만들어줘'라고 했을 때 나오는 형태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비개발자 웹+AI 교육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Pretendard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97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i="0">
                <a:solidFill>
                  <a:srgbClr val="F96167"/>
                </a:solidFill>
                <a:latin typeface="Pretendard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1800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1A1A1A"/>
                </a:solidFill>
                <a:latin typeface="Pretendard"/>
              </a:rPr>
              <a:t>프로그래밍의 미래는 코드를 더 빠르게 쓰는 것이 아니라,</a:t>
            </a:r>
          </a:p>
          <a:p>
            <a:pPr algn="l"/>
            <a:r>
              <a:rPr sz="2800" b="0" i="1">
                <a:solidFill>
                  <a:srgbClr val="1A1A1A"/>
                </a:solidFill>
                <a:latin typeface="Pretendard"/>
              </a:rPr>
              <a:t>의도를 더 정확하게 전달하는 것이다.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— Andrej Karpathy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Pretendard"/>
              </a:rPr>
              <a:t>이번 교육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2일간 압축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비개발자 웹+AI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Pretendard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3933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96167"/>
                </a:solidFill>
                <a:latin typeface="Pretendard"/>
              </a:rPr>
              <a:t>16h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Pretendard"/>
              </a:rPr>
              <a:t>총 교육 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339333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Pretendard"/>
              </a:rPr>
              <a:t>2일 × 8교시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2057400"/>
            <a:ext cx="33933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96167"/>
                </a:solidFill>
                <a:latin typeface="Pretendard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178" y="3611880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Pretendard"/>
              </a:rPr>
              <a:t>슬라이드 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178" y="4160520"/>
            <a:ext cx="339333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Pretendard"/>
              </a:rPr>
              <a:t>디자인 일관성 보장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2057400"/>
            <a:ext cx="33933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96167"/>
                </a:solidFill>
                <a:latin typeface="Pretendard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611880"/>
            <a:ext cx="3393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Pretendard"/>
              </a:rPr>
              <a:t>AI 협업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4160520"/>
            <a:ext cx="339333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Pretendard"/>
              </a:rPr>
              <a:t>Cline 기반 진행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80759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Pretendard"/>
              </a:rPr>
              <a:t>수강생 1인당 평균 80개 프롬프트를 작성하게 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Pretendard"/>
              </a:rPr>
              <a:t>환경 구축 4단계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수업 시작 전 사전 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비개발자 웹+AI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Pretendard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1552536" y="1965960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5564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Pretendard"/>
              </a:rPr>
              <a:t>Python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474720"/>
            <a:ext cx="237355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Pretendard"/>
              </a:rPr>
              <a:t>3.14 버전 다운로드 후 설치 (PATH 등록 필수)</a:t>
            </a:r>
          </a:p>
        </p:txBody>
      </p:sp>
      <p:sp>
        <p:nvSpPr>
          <p:cNvPr id="10" name="Oval 9"/>
          <p:cNvSpPr/>
          <p:nvPr/>
        </p:nvSpPr>
        <p:spPr>
          <a:xfrm>
            <a:off x="4337570" y="1965960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5113" y="2880360"/>
            <a:ext cx="25564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Pretendard"/>
              </a:rPr>
              <a:t>Node.js 설치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6553" y="3474720"/>
            <a:ext cx="237355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Pretendard"/>
              </a:rPr>
              <a:t>LTS 버전 설치 후 npm 동작 확인</a:t>
            </a:r>
          </a:p>
        </p:txBody>
      </p:sp>
      <p:sp>
        <p:nvSpPr>
          <p:cNvPr id="13" name="Oval 12"/>
          <p:cNvSpPr/>
          <p:nvPr/>
        </p:nvSpPr>
        <p:spPr>
          <a:xfrm>
            <a:off x="7122604" y="1965960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2880360"/>
            <a:ext cx="25564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Pretendard"/>
              </a:rPr>
              <a:t>VS Code 설치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3474720"/>
            <a:ext cx="237355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Pretendard"/>
              </a:rPr>
              <a:t>공식 사이트에서 Stable 버전 설치</a:t>
            </a:r>
          </a:p>
        </p:txBody>
      </p:sp>
      <p:sp>
        <p:nvSpPr>
          <p:cNvPr id="16" name="Oval 15"/>
          <p:cNvSpPr/>
          <p:nvPr/>
        </p:nvSpPr>
        <p:spPr>
          <a:xfrm>
            <a:off x="9907638" y="1965960"/>
            <a:ext cx="731520" cy="7315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5181" y="2880360"/>
            <a:ext cx="255643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Pretendard"/>
              </a:rPr>
              <a:t>Cline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621" y="3474720"/>
            <a:ext cx="237355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Pretendard"/>
              </a:rPr>
              <a:t>VS Code 마켓플레이스에서 Cline 검색 후 설치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